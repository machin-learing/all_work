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" name="Shape 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4858544" y="814388"/>
            <a:ext cx="2476500" cy="3810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4820285" y="814705"/>
            <a:ext cx="2807970" cy="381000"/>
          </a:xfrm>
          <a:prstGeom prst="rect">
            <a:avLst/>
          </a:prstGeom>
          <a:noFill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kern="0" spc="12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机器学习大作业 · 开题汇报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47652" y="1500188"/>
            <a:ext cx="689610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小样本条件下中文多角色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文本风格迁移研究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3157538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8" name="Text 6"/>
          <p:cNvSpPr/>
          <p:nvPr/>
        </p:nvSpPr>
        <p:spPr>
          <a:xfrm>
            <a:off x="2733377" y="3500438"/>
            <a:ext cx="672465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基于自建数据集的 Transformer 从零训练与 LoRA 微调对比实验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1500" y="4939030"/>
            <a:ext cx="430149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小组成员：</a:t>
            </a:r>
            <a:r>
              <a:rPr lang="zh-CN" alt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王浩楠</a:t>
            </a:r>
            <a:r>
              <a:rPr 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、</a:t>
            </a:r>
            <a:r>
              <a:rPr lang="zh-CN" alt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张博凇</a:t>
            </a:r>
            <a:r>
              <a:rPr 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、</a:t>
            </a:r>
            <a:r>
              <a:rPr lang="zh-CN" alt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范智杰</a:t>
            </a:r>
            <a:r>
              <a:rPr 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、</a:t>
            </a:r>
            <a:r>
              <a:rPr lang="zh-CN" alt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何顺康</a:t>
            </a:r>
            <a:r>
              <a:rPr 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、</a:t>
            </a:r>
            <a:r>
              <a:rPr lang="zh-CN" alt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陈佳</a:t>
            </a:r>
            <a:r>
              <a:rPr lang="zh-CN" altLang="en-US" sz="135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铭</a:t>
            </a:r>
            <a:endParaRPr lang="zh-CN" altLang="en-US" sz="1350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1500" y="5319713"/>
            <a:ext cx="3429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汇报人：</a:t>
            </a:r>
            <a:r>
              <a:rPr lang="zh-CN" altLang="en-US" sz="13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王浩楠</a:t>
            </a:r>
            <a:endParaRPr lang="zh-CN" altLang="en-US" sz="1350" b="1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6263" y="5815013"/>
            <a:ext cx="3419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2026</a:t>
            </a:r>
            <a:r>
              <a:rPr lang="zh-CN" alt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年</a:t>
            </a:r>
            <a:r>
              <a:rPr lang="en-US" altLang="zh-CN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05</a:t>
            </a: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月17日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" name="Shape 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81000" y="381000"/>
            <a:ext cx="381000" cy="3810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333375" y="381000"/>
            <a:ext cx="476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381000"/>
            <a:ext cx="32575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选题背景与研究动机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6300" y="838200"/>
            <a:ext cx="11020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同一内容，不同对象，表达方式不同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5288" y="1333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9" name="Text 7"/>
          <p:cNvSpPr/>
          <p:nvPr/>
        </p:nvSpPr>
        <p:spPr>
          <a:xfrm>
            <a:off x="666750" y="1295400"/>
            <a:ext cx="5991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现实场景示例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1714500"/>
            <a:ext cx="6143625" cy="2390775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11" name="Shape 9"/>
          <p:cNvSpPr/>
          <p:nvPr/>
        </p:nvSpPr>
        <p:spPr>
          <a:xfrm>
            <a:off x="400050" y="1714500"/>
            <a:ext cx="38100" cy="2390775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71500" y="1866900"/>
          <a:ext cx="5819775" cy="2085975"/>
        </p:xfrm>
        <a:graphic>
          <a:graphicData uri="http://schemas.openxmlformats.org/drawingml/2006/table">
            <a:tbl>
              <a:tblPr/>
              <a:tblGrid>
                <a:gridCol w="1516958"/>
                <a:gridCol w="810952"/>
                <a:gridCol w="3491865"/>
              </a:tblGrid>
              <a:tr h="619471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中性文本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目标角色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改写结果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19471">
                <a:tc rowSpan="3"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我今天可能晚点到。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老板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我今天可能会稍晚到达，相关事项我会提前安排好。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9837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女朋友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宝贝，我今天可能晚点到，忙完马上找你。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7195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母亲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F29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妈，我今天可能晚点到，你不用担心。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09575" y="4686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4" name="Text 11"/>
          <p:cNvSpPr/>
          <p:nvPr/>
        </p:nvSpPr>
        <p:spPr>
          <a:xfrm>
            <a:off x="666750" y="4648200"/>
            <a:ext cx="5991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LLM</a:t>
            </a:r>
            <a:r>
              <a:rPr lang="zh-CN" alt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能做为什么还要</a:t>
            </a:r>
            <a:r>
              <a:rPr lang="zh-CN" altLang="en-US" sz="1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研究？</a:t>
            </a:r>
            <a:endParaRPr lang="zh-CN" altLang="en-US" sz="1800" b="1" dirty="0">
              <a:solidFill>
                <a:srgbClr val="1F2937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770390" y="1295400"/>
            <a:ext cx="5038725" cy="26289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26" name="Shape 23"/>
          <p:cNvSpPr/>
          <p:nvPr/>
        </p:nvSpPr>
        <p:spPr>
          <a:xfrm>
            <a:off x="7018040" y="1524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4"/>
          <p:cNvSpPr/>
          <p:nvPr/>
        </p:nvSpPr>
        <p:spPr>
          <a:xfrm>
            <a:off x="7246640" y="1485900"/>
            <a:ext cx="44862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研究动机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60890" y="1943100"/>
            <a:ext cx="47339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现实需求：</a:t>
            </a:r>
            <a:r>
              <a:rPr lang="en-US" sz="12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日常交流中，同一语义面对不同关系角色时，语气、称呼、礼貌程度和情绪表达存在显著差异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960890" y="2590800"/>
            <a:ext cx="47339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技术挑战：</a:t>
            </a:r>
            <a:r>
              <a:rPr lang="en-US" sz="12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现有文本风格迁移任务较少关注关系角色维度，缺乏针对性的数据集和方法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60890" y="3238500"/>
            <a:ext cx="47339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研究价值：</a:t>
            </a:r>
            <a:r>
              <a:rPr lang="en-US" sz="12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构建多角色风格迁移能力，可应用于智能客服、社交辅助、文本润色等场景</a:t>
            </a:r>
            <a:endParaRPr lang="en-US" sz="1600" dirty="0"/>
          </a:p>
        </p:txBody>
      </p:sp>
      <p:sp>
        <p:nvSpPr>
          <p:cNvPr id="35" name="文本框 34"/>
          <p:cNvSpPr txBox="1"/>
          <p:nvPr/>
        </p:nvSpPr>
        <p:spPr>
          <a:xfrm>
            <a:off x="629285" y="5219700"/>
            <a:ext cx="11180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LLM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是你们的数据标注工具和教师模型；我们训练模型的意义是做任务专用的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轻量模型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，并通过从零训练与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微调对比，研究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小样本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中文多角色风格迁移的学习效果。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" name="Shape 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81000" y="381000"/>
            <a:ext cx="381000" cy="3810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333375" y="381000"/>
            <a:ext cx="476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400050"/>
            <a:ext cx="27146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任务定义与研究目标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6300" y="800100"/>
            <a:ext cx="11020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中文多角色文本风格迁移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143000"/>
            <a:ext cx="5619750" cy="2695575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400050" y="1143000"/>
            <a:ext cx="38100" cy="2695575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557213" y="1295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771525" y="1257300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任务形式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6575" y="1603375"/>
            <a:ext cx="5368925" cy="7302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050" y="1720851"/>
            <a:ext cx="521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输入：</a:t>
            </a: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中性文本 + 目标角色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050" y="1987551"/>
            <a:ext cx="521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输出：</a:t>
            </a: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目标角色风格文本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575" y="2416175"/>
            <a:ext cx="5368925" cy="13112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050" y="2533650"/>
            <a:ext cx="521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4050" y="2800350"/>
            <a:ext cx="5334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角色：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50342" y="2787651"/>
            <a:ext cx="419100" cy="2667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19" name="Text 17"/>
          <p:cNvSpPr/>
          <p:nvPr/>
        </p:nvSpPr>
        <p:spPr>
          <a:xfrm>
            <a:off x="1150342" y="2787651"/>
            <a:ext cx="4857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母亲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4050" y="3067050"/>
            <a:ext cx="521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内容：</a:t>
            </a: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我今天加班，可能晚点回去。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4050" y="3336925"/>
            <a:ext cx="5133975" cy="6350"/>
          </a:xfrm>
          <a:prstGeom prst="roundRect">
            <a:avLst>
              <a:gd name="adj" fmla="val 0"/>
            </a:avLst>
          </a:prstGeom>
          <a:solidFill>
            <a:srgbClr val="E5E7EB"/>
          </a:solidFill>
        </p:spPr>
      </p:sp>
      <p:sp>
        <p:nvSpPr>
          <p:cNvPr id="22" name="Shape 20"/>
          <p:cNvSpPr/>
          <p:nvPr/>
        </p:nvSpPr>
        <p:spPr>
          <a:xfrm>
            <a:off x="673100" y="34163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901700" y="3378201"/>
            <a:ext cx="4962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输出：</a:t>
            </a:r>
            <a:r>
              <a:rPr lang="en-US" sz="1200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妈，我今天加班，可能晚点回去，你早点休息，别等我。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3994150"/>
            <a:ext cx="5638800" cy="2486025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25" name="Shape 23"/>
          <p:cNvSpPr/>
          <p:nvPr/>
        </p:nvSpPr>
        <p:spPr>
          <a:xfrm>
            <a:off x="519113" y="48236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733425" y="478552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核心研究问题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5300" y="5128420"/>
            <a:ext cx="54959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如何让模型理解 </a:t>
            </a:r>
            <a:r>
              <a:rPr lang="en-US" sz="13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不同关系角色的语言风格特征</a:t>
            </a:r>
            <a:r>
              <a:rPr lang="en-US" sz="135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 ，并实现精准的风格迁移？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0" y="1143000"/>
            <a:ext cx="5619750" cy="3886200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29" name="Shape 27"/>
          <p:cNvSpPr/>
          <p:nvPr/>
        </p:nvSpPr>
        <p:spPr>
          <a:xfrm>
            <a:off x="6191250" y="1143000"/>
            <a:ext cx="38100" cy="3886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6360319" y="1295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23812" y="5321"/>
                  <a:pt x="18492" y="0"/>
                  <a:pt x="11906" y="0"/>
                </a:cubicBezTo>
                <a:cubicBezTo>
                  <a:pt x="5321" y="0"/>
                  <a:pt x="0" y="5321"/>
                  <a:pt x="0" y="11906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133350"/>
                </a:lnTo>
                <a:lnTo>
                  <a:pt x="47141" y="126355"/>
                </a:lnTo>
                <a:cubicBezTo>
                  <a:pt x="62731" y="121667"/>
                  <a:pt x="79549" y="123118"/>
                  <a:pt x="94097" y="130411"/>
                </a:cubicBezTo>
                <a:cubicBezTo>
                  <a:pt x="109984" y="138373"/>
                  <a:pt x="128513" y="139340"/>
                  <a:pt x="145145" y="133090"/>
                </a:cubicBezTo>
                <a:lnTo>
                  <a:pt x="158948" y="127918"/>
                </a:lnTo>
                <a:cubicBezTo>
                  <a:pt x="163599" y="126169"/>
                  <a:pt x="166688" y="121741"/>
                  <a:pt x="166688" y="116756"/>
                </a:cubicBezTo>
                <a:lnTo>
                  <a:pt x="166688" y="24594"/>
                </a:lnTo>
                <a:cubicBezTo>
                  <a:pt x="166688" y="16036"/>
                  <a:pt x="157683" y="10455"/>
                  <a:pt x="150019" y="14287"/>
                </a:cubicBezTo>
                <a:lnTo>
                  <a:pt x="145628" y="16483"/>
                </a:lnTo>
                <a:cubicBezTo>
                  <a:pt x="128922" y="24854"/>
                  <a:pt x="109240" y="24854"/>
                  <a:pt x="92497" y="16483"/>
                </a:cubicBezTo>
                <a:cubicBezTo>
                  <a:pt x="78953" y="9711"/>
                  <a:pt x="63364" y="8372"/>
                  <a:pt x="48890" y="12725"/>
                </a:cubicBezTo>
                <a:lnTo>
                  <a:pt x="23812" y="20241"/>
                </a:lnTo>
                <a:lnTo>
                  <a:pt x="23812" y="1190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6562725" y="1257300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四大研究目标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7775" y="1677988"/>
            <a:ext cx="5368925" cy="615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7150" y="1757363"/>
            <a:ext cx="304800" cy="3048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4" name="Text 32"/>
          <p:cNvSpPr/>
          <p:nvPr/>
        </p:nvSpPr>
        <p:spPr>
          <a:xfrm>
            <a:off x="6369050" y="1757363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26250" y="1757363"/>
            <a:ext cx="8382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构建数据集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6250" y="1985963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小规模中文多角色风格迁移数据集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7775" y="2525713"/>
            <a:ext cx="5368925" cy="615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7150" y="2605088"/>
            <a:ext cx="304800" cy="3048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9" name="Text 37"/>
          <p:cNvSpPr/>
          <p:nvPr/>
        </p:nvSpPr>
        <p:spPr>
          <a:xfrm>
            <a:off x="6369050" y="2605088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26250" y="2605088"/>
            <a:ext cx="6858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从零训练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26250" y="2833688"/>
            <a:ext cx="163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Transformer模型实现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27775" y="3373438"/>
            <a:ext cx="5368925" cy="615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7150" y="3452813"/>
            <a:ext cx="304800" cy="3048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4" name="Text 42"/>
          <p:cNvSpPr/>
          <p:nvPr/>
        </p:nvSpPr>
        <p:spPr>
          <a:xfrm>
            <a:off x="6369050" y="3452813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26250" y="3452813"/>
            <a:ext cx="80198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LoRA微调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26250" y="3681413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预训练模型微调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7775" y="4221163"/>
            <a:ext cx="5368925" cy="615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7150" y="4300538"/>
            <a:ext cx="304800" cy="3048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9" name="Text 47"/>
          <p:cNvSpPr/>
          <p:nvPr/>
        </p:nvSpPr>
        <p:spPr>
          <a:xfrm>
            <a:off x="6369050" y="4300538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26250" y="4300538"/>
            <a:ext cx="6858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对比实验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26250" y="4529138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小样本条件下生成效果对比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91250" y="5181600"/>
            <a:ext cx="5619750" cy="1295400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53" name="Shape 51"/>
          <p:cNvSpPr/>
          <p:nvPr/>
        </p:nvSpPr>
        <p:spPr>
          <a:xfrm>
            <a:off x="6191250" y="5181600"/>
            <a:ext cx="38100" cy="1295400"/>
          </a:xfrm>
          <a:prstGeom prst="roundRect">
            <a:avLst>
              <a:gd name="adj" fmla="val 0"/>
            </a:avLst>
          </a:prstGeom>
          <a:solidFill>
            <a:srgbClr val="6B7280"/>
          </a:solidFill>
        </p:spPr>
      </p:sp>
      <p:sp>
        <p:nvSpPr>
          <p:cNvPr id="54" name="Shape 52"/>
          <p:cNvSpPr/>
          <p:nvPr/>
        </p:nvSpPr>
        <p:spPr>
          <a:xfrm>
            <a:off x="6348413" y="5334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6B7280"/>
          </a:solidFill>
        </p:spPr>
      </p:sp>
      <p:sp>
        <p:nvSpPr>
          <p:cNvPr id="55" name="Text 53"/>
          <p:cNvSpPr/>
          <p:nvPr/>
        </p:nvSpPr>
        <p:spPr>
          <a:xfrm>
            <a:off x="6562725" y="5295900"/>
            <a:ext cx="5229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完整流程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678216" y="5638800"/>
            <a:ext cx="457200" cy="457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7" name="Shape 55"/>
          <p:cNvSpPr/>
          <p:nvPr/>
        </p:nvSpPr>
        <p:spPr>
          <a:xfrm>
            <a:off x="6823472" y="5772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6286500" y="613410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数据集构建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12844" y="5905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0" name="Shape 58"/>
          <p:cNvSpPr/>
          <p:nvPr/>
        </p:nvSpPr>
        <p:spPr>
          <a:xfrm>
            <a:off x="8080772" y="5638800"/>
            <a:ext cx="457200" cy="457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61" name="Shape 59"/>
          <p:cNvSpPr/>
          <p:nvPr/>
        </p:nvSpPr>
        <p:spPr>
          <a:xfrm>
            <a:off x="8190309" y="5772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Text 60"/>
          <p:cNvSpPr/>
          <p:nvPr/>
        </p:nvSpPr>
        <p:spPr>
          <a:xfrm>
            <a:off x="7689056" y="613410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915400" y="5905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4" name="Shape 62"/>
          <p:cNvSpPr/>
          <p:nvPr/>
        </p:nvSpPr>
        <p:spPr>
          <a:xfrm>
            <a:off x="9483328" y="5638800"/>
            <a:ext cx="457200" cy="457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65" name="Shape 63"/>
          <p:cNvSpPr/>
          <p:nvPr/>
        </p:nvSpPr>
        <p:spPr>
          <a:xfrm>
            <a:off x="9616678" y="5772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6" name="Text 64"/>
          <p:cNvSpPr/>
          <p:nvPr/>
        </p:nvSpPr>
        <p:spPr>
          <a:xfrm>
            <a:off x="9091613" y="613410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效果评估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317956" y="5905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68" name="Shape 66"/>
          <p:cNvSpPr/>
          <p:nvPr/>
        </p:nvSpPr>
        <p:spPr>
          <a:xfrm>
            <a:off x="10885884" y="5638800"/>
            <a:ext cx="457200" cy="4572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69" name="Shape 67"/>
          <p:cNvSpPr/>
          <p:nvPr/>
        </p:nvSpPr>
        <p:spPr>
          <a:xfrm>
            <a:off x="11019234" y="5772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0" name="Text 68"/>
          <p:cNvSpPr/>
          <p:nvPr/>
        </p:nvSpPr>
        <p:spPr>
          <a:xfrm>
            <a:off x="10494169" y="613410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网页展示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0271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" name="Shape 1"/>
          <p:cNvSpPr/>
          <p:nvPr/>
        </p:nvSpPr>
        <p:spPr>
          <a:xfrm>
            <a:off x="0" y="6789925"/>
            <a:ext cx="12192000" cy="70271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51354" y="351354"/>
            <a:ext cx="351354" cy="351354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307435" y="351354"/>
            <a:ext cx="439193" cy="3513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5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8115" y="351354"/>
            <a:ext cx="2371643" cy="3513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数据集构建方案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8115" y="772980"/>
            <a:ext cx="11111585" cy="245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1000条中性文本 × 5类角色 = 5000条样本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8922" y="1159470"/>
            <a:ext cx="5639239" cy="1800692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368922" y="1159470"/>
            <a:ext cx="35135" cy="1800692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566559" y="1335147"/>
            <a:ext cx="184461" cy="210813"/>
          </a:xfrm>
          <a:custGeom>
            <a:avLst/>
            <a:gdLst/>
            <a:ahLst/>
            <a:cxnLst/>
            <a:rect l="l" t="t" r="r" b="b"/>
            <a:pathLst>
              <a:path w="184461" h="210813">
                <a:moveTo>
                  <a:pt x="184461" y="84737"/>
                </a:moveTo>
                <a:cubicBezTo>
                  <a:pt x="178367" y="88772"/>
                  <a:pt x="171368" y="92025"/>
                  <a:pt x="164080" y="94619"/>
                </a:cubicBezTo>
                <a:cubicBezTo>
                  <a:pt x="144728" y="101536"/>
                  <a:pt x="119323" y="105406"/>
                  <a:pt x="92231" y="105406"/>
                </a:cubicBezTo>
                <a:cubicBezTo>
                  <a:pt x="65138" y="105406"/>
                  <a:pt x="39692" y="101495"/>
                  <a:pt x="20381" y="94619"/>
                </a:cubicBezTo>
                <a:cubicBezTo>
                  <a:pt x="13135" y="92025"/>
                  <a:pt x="6094" y="88772"/>
                  <a:pt x="0" y="84737"/>
                </a:cubicBezTo>
                <a:lnTo>
                  <a:pt x="0" y="118582"/>
                </a:lnTo>
                <a:cubicBezTo>
                  <a:pt x="0" y="136781"/>
                  <a:pt x="41298" y="151522"/>
                  <a:pt x="92231" y="151522"/>
                </a:cubicBezTo>
                <a:cubicBezTo>
                  <a:pt x="143163" y="151522"/>
                  <a:pt x="184461" y="136781"/>
                  <a:pt x="184461" y="118582"/>
                </a:cubicBezTo>
                <a:lnTo>
                  <a:pt x="184461" y="84737"/>
                </a:lnTo>
                <a:close/>
                <a:moveTo>
                  <a:pt x="184461" y="52703"/>
                </a:moveTo>
                <a:lnTo>
                  <a:pt x="184461" y="32939"/>
                </a:lnTo>
                <a:cubicBezTo>
                  <a:pt x="184461" y="14740"/>
                  <a:pt x="143163" y="0"/>
                  <a:pt x="92231" y="0"/>
                </a:cubicBezTo>
                <a:cubicBezTo>
                  <a:pt x="41298" y="0"/>
                  <a:pt x="0" y="14740"/>
                  <a:pt x="0" y="32939"/>
                </a:cubicBezTo>
                <a:lnTo>
                  <a:pt x="0" y="52703"/>
                </a:lnTo>
                <a:cubicBezTo>
                  <a:pt x="0" y="70902"/>
                  <a:pt x="41298" y="85643"/>
                  <a:pt x="92231" y="85643"/>
                </a:cubicBezTo>
                <a:cubicBezTo>
                  <a:pt x="143163" y="85643"/>
                  <a:pt x="184461" y="70902"/>
                  <a:pt x="184461" y="52703"/>
                </a:cubicBezTo>
                <a:close/>
                <a:moveTo>
                  <a:pt x="164080" y="160498"/>
                </a:moveTo>
                <a:cubicBezTo>
                  <a:pt x="144769" y="167374"/>
                  <a:pt x="119364" y="171285"/>
                  <a:pt x="92231" y="171285"/>
                </a:cubicBezTo>
                <a:cubicBezTo>
                  <a:pt x="65097" y="171285"/>
                  <a:pt x="39692" y="167374"/>
                  <a:pt x="20381" y="160498"/>
                </a:cubicBezTo>
                <a:cubicBezTo>
                  <a:pt x="13135" y="157904"/>
                  <a:pt x="6094" y="154651"/>
                  <a:pt x="0" y="150616"/>
                </a:cubicBezTo>
                <a:lnTo>
                  <a:pt x="0" y="177873"/>
                </a:lnTo>
                <a:cubicBezTo>
                  <a:pt x="0" y="196072"/>
                  <a:pt x="41298" y="210813"/>
                  <a:pt x="92231" y="210813"/>
                </a:cubicBezTo>
                <a:cubicBezTo>
                  <a:pt x="143163" y="210813"/>
                  <a:pt x="184461" y="196072"/>
                  <a:pt x="184461" y="177873"/>
                </a:cubicBezTo>
                <a:lnTo>
                  <a:pt x="184461" y="150616"/>
                </a:lnTo>
                <a:cubicBezTo>
                  <a:pt x="178367" y="154651"/>
                  <a:pt x="171368" y="157904"/>
                  <a:pt x="164080" y="160498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790548" y="1300012"/>
            <a:ext cx="5182478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9960" y="1689429"/>
            <a:ext cx="1701141" cy="743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2415" y="1797764"/>
            <a:ext cx="1616231" cy="316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159" y="2113983"/>
            <a:ext cx="1554744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中性文本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45932" y="1689429"/>
            <a:ext cx="1701141" cy="743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88387" y="1797764"/>
            <a:ext cx="1616231" cy="316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19130" y="2113983"/>
            <a:ext cx="1554744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目标角色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61904" y="1689429"/>
            <a:ext cx="1701141" cy="743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4359" y="1797764"/>
            <a:ext cx="1616231" cy="3162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35102" y="2113983"/>
            <a:ext cx="1554744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最终样本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7032" y="2541465"/>
            <a:ext cx="491896" cy="281084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22" name="Text 20"/>
          <p:cNvSpPr/>
          <p:nvPr/>
        </p:nvSpPr>
        <p:spPr>
          <a:xfrm>
            <a:off x="527032" y="2541465"/>
            <a:ext cx="562167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老板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89199" y="2541465"/>
            <a:ext cx="632438" cy="281084"/>
          </a:xfrm>
          <a:prstGeom prst="roundRect">
            <a:avLst>
              <a:gd name="adj" fmla="val 0"/>
            </a:avLst>
          </a:prstGeom>
          <a:solidFill>
            <a:srgbClr val="6B7280"/>
          </a:solidFill>
        </p:spPr>
      </p:sp>
      <p:sp>
        <p:nvSpPr>
          <p:cNvPr id="24" name="Text 22"/>
          <p:cNvSpPr/>
          <p:nvPr/>
        </p:nvSpPr>
        <p:spPr>
          <a:xfrm>
            <a:off x="1089199" y="2541465"/>
            <a:ext cx="702709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女朋友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791908" y="2541465"/>
            <a:ext cx="491896" cy="281084"/>
          </a:xfrm>
          <a:prstGeom prst="roundRect">
            <a:avLst>
              <a:gd name="adj" fmla="val 0"/>
            </a:avLst>
          </a:prstGeom>
          <a:solidFill>
            <a:srgbClr val="6B7280"/>
          </a:solidFill>
        </p:spPr>
      </p:sp>
      <p:sp>
        <p:nvSpPr>
          <p:cNvPr id="26" name="Text 24"/>
          <p:cNvSpPr/>
          <p:nvPr/>
        </p:nvSpPr>
        <p:spPr>
          <a:xfrm>
            <a:off x="1791908" y="2541465"/>
            <a:ext cx="562167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妻子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354075" y="2541465"/>
            <a:ext cx="491896" cy="281084"/>
          </a:xfrm>
          <a:prstGeom prst="roundRect">
            <a:avLst>
              <a:gd name="adj" fmla="val 0"/>
            </a:avLst>
          </a:prstGeom>
          <a:solidFill>
            <a:srgbClr val="6B7280"/>
          </a:solidFill>
        </p:spPr>
      </p:sp>
      <p:sp>
        <p:nvSpPr>
          <p:cNvPr id="28" name="Text 26"/>
          <p:cNvSpPr/>
          <p:nvPr/>
        </p:nvSpPr>
        <p:spPr>
          <a:xfrm>
            <a:off x="2354075" y="2541465"/>
            <a:ext cx="562167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父亲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916242" y="2541465"/>
            <a:ext cx="491896" cy="281084"/>
          </a:xfrm>
          <a:prstGeom prst="roundRect">
            <a:avLst>
              <a:gd name="adj" fmla="val 0"/>
            </a:avLst>
          </a:prstGeom>
          <a:solidFill>
            <a:srgbClr val="6B7280"/>
          </a:solidFill>
        </p:spPr>
      </p:sp>
      <p:sp>
        <p:nvSpPr>
          <p:cNvPr id="30" name="Text 28"/>
          <p:cNvSpPr/>
          <p:nvPr/>
        </p:nvSpPr>
        <p:spPr>
          <a:xfrm>
            <a:off x="2916242" y="2541465"/>
            <a:ext cx="562167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母亲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8922" y="3103633"/>
            <a:ext cx="5639239" cy="3759493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32" name="Shape 30"/>
          <p:cNvSpPr/>
          <p:nvPr/>
        </p:nvSpPr>
        <p:spPr>
          <a:xfrm>
            <a:off x="368922" y="3103633"/>
            <a:ext cx="35135" cy="3759493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3" name="Shape 31"/>
          <p:cNvSpPr/>
          <p:nvPr/>
        </p:nvSpPr>
        <p:spPr>
          <a:xfrm>
            <a:off x="553383" y="3279310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0" y="32939"/>
                </a:moveTo>
                <a:cubicBezTo>
                  <a:pt x="0" y="22028"/>
                  <a:pt x="8852" y="13176"/>
                  <a:pt x="19764" y="13176"/>
                </a:cubicBezTo>
                <a:lnTo>
                  <a:pt x="59291" y="13176"/>
                </a:lnTo>
                <a:cubicBezTo>
                  <a:pt x="70202" y="13176"/>
                  <a:pt x="79055" y="22028"/>
                  <a:pt x="79055" y="32939"/>
                </a:cubicBezTo>
                <a:lnTo>
                  <a:pt x="79055" y="39527"/>
                </a:lnTo>
                <a:lnTo>
                  <a:pt x="131758" y="39527"/>
                </a:lnTo>
                <a:lnTo>
                  <a:pt x="131758" y="32939"/>
                </a:lnTo>
                <a:cubicBezTo>
                  <a:pt x="131758" y="22028"/>
                  <a:pt x="140610" y="13176"/>
                  <a:pt x="151522" y="13176"/>
                </a:cubicBezTo>
                <a:lnTo>
                  <a:pt x="191049" y="13176"/>
                </a:lnTo>
                <a:cubicBezTo>
                  <a:pt x="201960" y="13176"/>
                  <a:pt x="210813" y="22028"/>
                  <a:pt x="210813" y="32939"/>
                </a:cubicBezTo>
                <a:lnTo>
                  <a:pt x="210813" y="72467"/>
                </a:lnTo>
                <a:cubicBezTo>
                  <a:pt x="210813" y="83378"/>
                  <a:pt x="201960" y="92231"/>
                  <a:pt x="191049" y="92231"/>
                </a:cubicBezTo>
                <a:lnTo>
                  <a:pt x="151522" y="92231"/>
                </a:lnTo>
                <a:cubicBezTo>
                  <a:pt x="140610" y="92231"/>
                  <a:pt x="131758" y="83378"/>
                  <a:pt x="131758" y="72467"/>
                </a:cubicBezTo>
                <a:lnTo>
                  <a:pt x="131758" y="65879"/>
                </a:lnTo>
                <a:lnTo>
                  <a:pt x="79055" y="65879"/>
                </a:lnTo>
                <a:lnTo>
                  <a:pt x="79055" y="72467"/>
                </a:lnTo>
                <a:cubicBezTo>
                  <a:pt x="79055" y="75473"/>
                  <a:pt x="78355" y="78355"/>
                  <a:pt x="77161" y="80908"/>
                </a:cubicBezTo>
                <a:lnTo>
                  <a:pt x="105406" y="118582"/>
                </a:lnTo>
                <a:lnTo>
                  <a:pt x="138346" y="118582"/>
                </a:lnTo>
                <a:cubicBezTo>
                  <a:pt x="149257" y="118582"/>
                  <a:pt x="158110" y="127435"/>
                  <a:pt x="158110" y="138346"/>
                </a:cubicBezTo>
                <a:lnTo>
                  <a:pt x="158110" y="177873"/>
                </a:lnTo>
                <a:cubicBezTo>
                  <a:pt x="158110" y="188784"/>
                  <a:pt x="149257" y="197637"/>
                  <a:pt x="138346" y="197637"/>
                </a:cubicBezTo>
                <a:lnTo>
                  <a:pt x="98818" y="197637"/>
                </a:lnTo>
                <a:cubicBezTo>
                  <a:pt x="87907" y="197637"/>
                  <a:pt x="79055" y="188784"/>
                  <a:pt x="79055" y="177873"/>
                </a:cubicBezTo>
                <a:lnTo>
                  <a:pt x="79055" y="138346"/>
                </a:lnTo>
                <a:cubicBezTo>
                  <a:pt x="79055" y="135340"/>
                  <a:pt x="79755" y="132458"/>
                  <a:pt x="80949" y="129905"/>
                </a:cubicBezTo>
                <a:lnTo>
                  <a:pt x="52703" y="92231"/>
                </a:lnTo>
                <a:lnTo>
                  <a:pt x="19764" y="92231"/>
                </a:lnTo>
                <a:cubicBezTo>
                  <a:pt x="8852" y="92231"/>
                  <a:pt x="0" y="83378"/>
                  <a:pt x="0" y="72467"/>
                </a:cubicBezTo>
                <a:lnTo>
                  <a:pt x="0" y="32939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4" name="Text 32"/>
          <p:cNvSpPr/>
          <p:nvPr/>
        </p:nvSpPr>
        <p:spPr>
          <a:xfrm>
            <a:off x="790548" y="3244174"/>
            <a:ext cx="5182478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构建流程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7032" y="3630664"/>
            <a:ext cx="281084" cy="281084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6" name="Text 34"/>
          <p:cNvSpPr/>
          <p:nvPr/>
        </p:nvSpPr>
        <p:spPr>
          <a:xfrm>
            <a:off x="491896" y="3630664"/>
            <a:ext cx="351354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3522" y="3665800"/>
            <a:ext cx="1431769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LCCC中抽取中性文本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45538" y="3982019"/>
            <a:ext cx="105406" cy="140542"/>
          </a:xfrm>
          <a:custGeom>
            <a:avLst/>
            <a:gdLst/>
            <a:ahLst/>
            <a:cxnLst/>
            <a:rect l="l" t="t" r="r" b="b"/>
            <a:pathLst>
              <a:path w="105406" h="140542">
                <a:moveTo>
                  <a:pt x="46500" y="137962"/>
                </a:moveTo>
                <a:cubicBezTo>
                  <a:pt x="49931" y="141393"/>
                  <a:pt x="55503" y="141393"/>
                  <a:pt x="58934" y="137962"/>
                </a:cubicBezTo>
                <a:lnTo>
                  <a:pt x="102854" y="94042"/>
                </a:lnTo>
                <a:cubicBezTo>
                  <a:pt x="106285" y="90611"/>
                  <a:pt x="106285" y="85039"/>
                  <a:pt x="102854" y="81608"/>
                </a:cubicBezTo>
                <a:cubicBezTo>
                  <a:pt x="99422" y="78176"/>
                  <a:pt x="93850" y="78176"/>
                  <a:pt x="90419" y="81608"/>
                </a:cubicBezTo>
                <a:lnTo>
                  <a:pt x="61487" y="110539"/>
                </a:lnTo>
                <a:lnTo>
                  <a:pt x="61487" y="8784"/>
                </a:lnTo>
                <a:cubicBezTo>
                  <a:pt x="61487" y="3925"/>
                  <a:pt x="57562" y="0"/>
                  <a:pt x="52703" y="0"/>
                </a:cubicBezTo>
                <a:cubicBezTo>
                  <a:pt x="47845" y="0"/>
                  <a:pt x="43919" y="3925"/>
                  <a:pt x="43919" y="8784"/>
                </a:cubicBezTo>
                <a:lnTo>
                  <a:pt x="43919" y="110539"/>
                </a:lnTo>
                <a:lnTo>
                  <a:pt x="14987" y="81608"/>
                </a:lnTo>
                <a:cubicBezTo>
                  <a:pt x="11556" y="78176"/>
                  <a:pt x="5984" y="78176"/>
                  <a:pt x="2553" y="81608"/>
                </a:cubicBezTo>
                <a:cubicBezTo>
                  <a:pt x="-878" y="85039"/>
                  <a:pt x="-878" y="90611"/>
                  <a:pt x="2553" y="94042"/>
                </a:cubicBezTo>
                <a:lnTo>
                  <a:pt x="46472" y="13796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39" name="Shape 37"/>
          <p:cNvSpPr/>
          <p:nvPr/>
        </p:nvSpPr>
        <p:spPr>
          <a:xfrm>
            <a:off x="527032" y="4192831"/>
            <a:ext cx="281084" cy="281084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0" name="Text 38"/>
          <p:cNvSpPr/>
          <p:nvPr/>
        </p:nvSpPr>
        <p:spPr>
          <a:xfrm>
            <a:off x="491896" y="4192831"/>
            <a:ext cx="351354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3522" y="4227967"/>
            <a:ext cx="133514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规则过滤与人工筛选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145538" y="4544186"/>
            <a:ext cx="105406" cy="140542"/>
          </a:xfrm>
          <a:custGeom>
            <a:avLst/>
            <a:gdLst/>
            <a:ahLst/>
            <a:cxnLst/>
            <a:rect l="l" t="t" r="r" b="b"/>
            <a:pathLst>
              <a:path w="105406" h="140542">
                <a:moveTo>
                  <a:pt x="46500" y="137962"/>
                </a:moveTo>
                <a:cubicBezTo>
                  <a:pt x="49931" y="141393"/>
                  <a:pt x="55503" y="141393"/>
                  <a:pt x="58934" y="137962"/>
                </a:cubicBezTo>
                <a:lnTo>
                  <a:pt x="102854" y="94042"/>
                </a:lnTo>
                <a:cubicBezTo>
                  <a:pt x="106285" y="90611"/>
                  <a:pt x="106285" y="85039"/>
                  <a:pt x="102854" y="81608"/>
                </a:cubicBezTo>
                <a:cubicBezTo>
                  <a:pt x="99422" y="78176"/>
                  <a:pt x="93850" y="78176"/>
                  <a:pt x="90419" y="81608"/>
                </a:cubicBezTo>
                <a:lnTo>
                  <a:pt x="61487" y="110539"/>
                </a:lnTo>
                <a:lnTo>
                  <a:pt x="61487" y="8784"/>
                </a:lnTo>
                <a:cubicBezTo>
                  <a:pt x="61487" y="3925"/>
                  <a:pt x="57562" y="0"/>
                  <a:pt x="52703" y="0"/>
                </a:cubicBezTo>
                <a:cubicBezTo>
                  <a:pt x="47845" y="0"/>
                  <a:pt x="43919" y="3925"/>
                  <a:pt x="43919" y="8784"/>
                </a:cubicBezTo>
                <a:lnTo>
                  <a:pt x="43919" y="110539"/>
                </a:lnTo>
                <a:lnTo>
                  <a:pt x="14987" y="81608"/>
                </a:lnTo>
                <a:cubicBezTo>
                  <a:pt x="11556" y="78176"/>
                  <a:pt x="5984" y="78176"/>
                  <a:pt x="2553" y="81608"/>
                </a:cubicBezTo>
                <a:cubicBezTo>
                  <a:pt x="-878" y="85039"/>
                  <a:pt x="-878" y="90611"/>
                  <a:pt x="2553" y="94042"/>
                </a:cubicBezTo>
                <a:lnTo>
                  <a:pt x="46472" y="13796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3" name="Shape 41"/>
          <p:cNvSpPr/>
          <p:nvPr/>
        </p:nvSpPr>
        <p:spPr>
          <a:xfrm>
            <a:off x="527032" y="4754999"/>
            <a:ext cx="281084" cy="281084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4" name="Text 42"/>
          <p:cNvSpPr/>
          <p:nvPr/>
        </p:nvSpPr>
        <p:spPr>
          <a:xfrm>
            <a:off x="491896" y="4754999"/>
            <a:ext cx="351354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3522" y="4790134"/>
            <a:ext cx="1194605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制定角色语言规范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145538" y="5106353"/>
            <a:ext cx="105406" cy="140542"/>
          </a:xfrm>
          <a:custGeom>
            <a:avLst/>
            <a:gdLst/>
            <a:ahLst/>
            <a:cxnLst/>
            <a:rect l="l" t="t" r="r" b="b"/>
            <a:pathLst>
              <a:path w="105406" h="140542">
                <a:moveTo>
                  <a:pt x="46500" y="137962"/>
                </a:moveTo>
                <a:cubicBezTo>
                  <a:pt x="49931" y="141393"/>
                  <a:pt x="55503" y="141393"/>
                  <a:pt x="58934" y="137962"/>
                </a:cubicBezTo>
                <a:lnTo>
                  <a:pt x="102854" y="94042"/>
                </a:lnTo>
                <a:cubicBezTo>
                  <a:pt x="106285" y="90611"/>
                  <a:pt x="106285" y="85039"/>
                  <a:pt x="102854" y="81608"/>
                </a:cubicBezTo>
                <a:cubicBezTo>
                  <a:pt x="99422" y="78176"/>
                  <a:pt x="93850" y="78176"/>
                  <a:pt x="90419" y="81608"/>
                </a:cubicBezTo>
                <a:lnTo>
                  <a:pt x="61487" y="110539"/>
                </a:lnTo>
                <a:lnTo>
                  <a:pt x="61487" y="8784"/>
                </a:lnTo>
                <a:cubicBezTo>
                  <a:pt x="61487" y="3925"/>
                  <a:pt x="57562" y="0"/>
                  <a:pt x="52703" y="0"/>
                </a:cubicBezTo>
                <a:cubicBezTo>
                  <a:pt x="47845" y="0"/>
                  <a:pt x="43919" y="3925"/>
                  <a:pt x="43919" y="8784"/>
                </a:cubicBezTo>
                <a:lnTo>
                  <a:pt x="43919" y="110539"/>
                </a:lnTo>
                <a:lnTo>
                  <a:pt x="14987" y="81608"/>
                </a:lnTo>
                <a:cubicBezTo>
                  <a:pt x="11556" y="78176"/>
                  <a:pt x="5984" y="78176"/>
                  <a:pt x="2553" y="81608"/>
                </a:cubicBezTo>
                <a:cubicBezTo>
                  <a:pt x="-878" y="85039"/>
                  <a:pt x="-878" y="90611"/>
                  <a:pt x="2553" y="94042"/>
                </a:cubicBezTo>
                <a:lnTo>
                  <a:pt x="46472" y="13796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47" name="Shape 45"/>
          <p:cNvSpPr/>
          <p:nvPr/>
        </p:nvSpPr>
        <p:spPr>
          <a:xfrm>
            <a:off x="527032" y="5317166"/>
            <a:ext cx="281084" cy="281084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8" name="Text 46"/>
          <p:cNvSpPr/>
          <p:nvPr/>
        </p:nvSpPr>
        <p:spPr>
          <a:xfrm>
            <a:off x="491896" y="5317166"/>
            <a:ext cx="351354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3522" y="5352301"/>
            <a:ext cx="1510824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LLM生成五类角色改写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145538" y="5668520"/>
            <a:ext cx="105406" cy="140542"/>
          </a:xfrm>
          <a:custGeom>
            <a:avLst/>
            <a:gdLst/>
            <a:ahLst/>
            <a:cxnLst/>
            <a:rect l="l" t="t" r="r" b="b"/>
            <a:pathLst>
              <a:path w="105406" h="140542">
                <a:moveTo>
                  <a:pt x="46500" y="137962"/>
                </a:moveTo>
                <a:cubicBezTo>
                  <a:pt x="49931" y="141393"/>
                  <a:pt x="55503" y="141393"/>
                  <a:pt x="58934" y="137962"/>
                </a:cubicBezTo>
                <a:lnTo>
                  <a:pt x="102854" y="94042"/>
                </a:lnTo>
                <a:cubicBezTo>
                  <a:pt x="106285" y="90611"/>
                  <a:pt x="106285" y="85039"/>
                  <a:pt x="102854" y="81608"/>
                </a:cubicBezTo>
                <a:cubicBezTo>
                  <a:pt x="99422" y="78176"/>
                  <a:pt x="93850" y="78176"/>
                  <a:pt x="90419" y="81608"/>
                </a:cubicBezTo>
                <a:lnTo>
                  <a:pt x="61487" y="110539"/>
                </a:lnTo>
                <a:lnTo>
                  <a:pt x="61487" y="8784"/>
                </a:lnTo>
                <a:cubicBezTo>
                  <a:pt x="61487" y="3925"/>
                  <a:pt x="57562" y="0"/>
                  <a:pt x="52703" y="0"/>
                </a:cubicBezTo>
                <a:cubicBezTo>
                  <a:pt x="47845" y="0"/>
                  <a:pt x="43919" y="3925"/>
                  <a:pt x="43919" y="8784"/>
                </a:cubicBezTo>
                <a:lnTo>
                  <a:pt x="43919" y="110539"/>
                </a:lnTo>
                <a:lnTo>
                  <a:pt x="14987" y="81608"/>
                </a:lnTo>
                <a:cubicBezTo>
                  <a:pt x="11556" y="78176"/>
                  <a:pt x="5984" y="78176"/>
                  <a:pt x="2553" y="81608"/>
                </a:cubicBezTo>
                <a:cubicBezTo>
                  <a:pt x="-878" y="85039"/>
                  <a:pt x="-878" y="90611"/>
                  <a:pt x="2553" y="94042"/>
                </a:cubicBezTo>
                <a:lnTo>
                  <a:pt x="46472" y="13796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1" name="Shape 49"/>
          <p:cNvSpPr/>
          <p:nvPr/>
        </p:nvSpPr>
        <p:spPr>
          <a:xfrm>
            <a:off x="527032" y="5879333"/>
            <a:ext cx="281084" cy="281084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2" name="Text 50"/>
          <p:cNvSpPr/>
          <p:nvPr/>
        </p:nvSpPr>
        <p:spPr>
          <a:xfrm>
            <a:off x="491896" y="5879333"/>
            <a:ext cx="351354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3522" y="5914468"/>
            <a:ext cx="632438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人工质检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145538" y="6230687"/>
            <a:ext cx="105406" cy="140542"/>
          </a:xfrm>
          <a:custGeom>
            <a:avLst/>
            <a:gdLst/>
            <a:ahLst/>
            <a:cxnLst/>
            <a:rect l="l" t="t" r="r" b="b"/>
            <a:pathLst>
              <a:path w="105406" h="140542">
                <a:moveTo>
                  <a:pt x="46500" y="137962"/>
                </a:moveTo>
                <a:cubicBezTo>
                  <a:pt x="49931" y="141393"/>
                  <a:pt x="55503" y="141393"/>
                  <a:pt x="58934" y="137962"/>
                </a:cubicBezTo>
                <a:lnTo>
                  <a:pt x="102854" y="94042"/>
                </a:lnTo>
                <a:cubicBezTo>
                  <a:pt x="106285" y="90611"/>
                  <a:pt x="106285" y="85039"/>
                  <a:pt x="102854" y="81608"/>
                </a:cubicBezTo>
                <a:cubicBezTo>
                  <a:pt x="99422" y="78176"/>
                  <a:pt x="93850" y="78176"/>
                  <a:pt x="90419" y="81608"/>
                </a:cubicBezTo>
                <a:lnTo>
                  <a:pt x="61487" y="110539"/>
                </a:lnTo>
                <a:lnTo>
                  <a:pt x="61487" y="8784"/>
                </a:lnTo>
                <a:cubicBezTo>
                  <a:pt x="61487" y="3925"/>
                  <a:pt x="57562" y="0"/>
                  <a:pt x="52703" y="0"/>
                </a:cubicBezTo>
                <a:cubicBezTo>
                  <a:pt x="47845" y="0"/>
                  <a:pt x="43919" y="3925"/>
                  <a:pt x="43919" y="8784"/>
                </a:cubicBezTo>
                <a:lnTo>
                  <a:pt x="43919" y="110539"/>
                </a:lnTo>
                <a:lnTo>
                  <a:pt x="14987" y="81608"/>
                </a:lnTo>
                <a:cubicBezTo>
                  <a:pt x="11556" y="78176"/>
                  <a:pt x="5984" y="78176"/>
                  <a:pt x="2553" y="81608"/>
                </a:cubicBezTo>
                <a:cubicBezTo>
                  <a:pt x="-878" y="85039"/>
                  <a:pt x="-878" y="90611"/>
                  <a:pt x="2553" y="94042"/>
                </a:cubicBezTo>
                <a:lnTo>
                  <a:pt x="46472" y="137962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55" name="Shape 53"/>
          <p:cNvSpPr/>
          <p:nvPr/>
        </p:nvSpPr>
        <p:spPr>
          <a:xfrm>
            <a:off x="527032" y="6441500"/>
            <a:ext cx="281084" cy="281084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6" name="Text 54"/>
          <p:cNvSpPr/>
          <p:nvPr/>
        </p:nvSpPr>
        <p:spPr>
          <a:xfrm>
            <a:off x="491896" y="6441500"/>
            <a:ext cx="351354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6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3522" y="6476635"/>
            <a:ext cx="1431769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形成训练/验证/测试集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03328" y="1159470"/>
            <a:ext cx="5639239" cy="5700726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59" name="Shape 57"/>
          <p:cNvSpPr/>
          <p:nvPr/>
        </p:nvSpPr>
        <p:spPr>
          <a:xfrm>
            <a:off x="6203328" y="1159470"/>
            <a:ext cx="35135" cy="5700726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60" name="Shape 58"/>
          <p:cNvSpPr/>
          <p:nvPr/>
        </p:nvSpPr>
        <p:spPr>
          <a:xfrm>
            <a:off x="6374613" y="1335147"/>
            <a:ext cx="237164" cy="210813"/>
          </a:xfrm>
          <a:custGeom>
            <a:avLst/>
            <a:gdLst/>
            <a:ahLst/>
            <a:cxnLst/>
            <a:rect l="l" t="t" r="r" b="b"/>
            <a:pathLst>
              <a:path w="237164" h="210813">
                <a:moveTo>
                  <a:pt x="148557" y="494"/>
                </a:moveTo>
                <a:cubicBezTo>
                  <a:pt x="141557" y="-1523"/>
                  <a:pt x="134270" y="2553"/>
                  <a:pt x="132252" y="9552"/>
                </a:cubicBezTo>
                <a:lnTo>
                  <a:pt x="79549" y="194014"/>
                </a:lnTo>
                <a:cubicBezTo>
                  <a:pt x="77531" y="201013"/>
                  <a:pt x="81608" y="208301"/>
                  <a:pt x="88607" y="210319"/>
                </a:cubicBezTo>
                <a:cubicBezTo>
                  <a:pt x="95607" y="212336"/>
                  <a:pt x="102895" y="208260"/>
                  <a:pt x="104912" y="201260"/>
                </a:cubicBezTo>
                <a:lnTo>
                  <a:pt x="157615" y="16799"/>
                </a:lnTo>
                <a:cubicBezTo>
                  <a:pt x="159633" y="9799"/>
                  <a:pt x="155557" y="2512"/>
                  <a:pt x="148557" y="494"/>
                </a:cubicBezTo>
                <a:close/>
                <a:moveTo>
                  <a:pt x="175156" y="56532"/>
                </a:moveTo>
                <a:cubicBezTo>
                  <a:pt x="170009" y="61679"/>
                  <a:pt x="170009" y="70038"/>
                  <a:pt x="175156" y="75184"/>
                </a:cubicBezTo>
                <a:lnTo>
                  <a:pt x="205378" y="105406"/>
                </a:lnTo>
                <a:lnTo>
                  <a:pt x="175156" y="135628"/>
                </a:lnTo>
                <a:cubicBezTo>
                  <a:pt x="170009" y="140775"/>
                  <a:pt x="170009" y="149134"/>
                  <a:pt x="175156" y="154280"/>
                </a:cubicBezTo>
                <a:cubicBezTo>
                  <a:pt x="180302" y="159427"/>
                  <a:pt x="188661" y="159427"/>
                  <a:pt x="193808" y="154280"/>
                </a:cubicBezTo>
                <a:lnTo>
                  <a:pt x="233335" y="114753"/>
                </a:lnTo>
                <a:cubicBezTo>
                  <a:pt x="238482" y="109606"/>
                  <a:pt x="238482" y="101248"/>
                  <a:pt x="233335" y="96101"/>
                </a:cubicBezTo>
                <a:lnTo>
                  <a:pt x="193808" y="56574"/>
                </a:lnTo>
                <a:cubicBezTo>
                  <a:pt x="188661" y="51427"/>
                  <a:pt x="180302" y="51427"/>
                  <a:pt x="175156" y="56574"/>
                </a:cubicBezTo>
                <a:close/>
                <a:moveTo>
                  <a:pt x="62050" y="56532"/>
                </a:moveTo>
                <a:cubicBezTo>
                  <a:pt x="56903" y="51386"/>
                  <a:pt x="48545" y="51386"/>
                  <a:pt x="43398" y="56532"/>
                </a:cubicBezTo>
                <a:lnTo>
                  <a:pt x="3870" y="96060"/>
                </a:lnTo>
                <a:cubicBezTo>
                  <a:pt x="-1276" y="101207"/>
                  <a:pt x="-1276" y="109565"/>
                  <a:pt x="3870" y="114712"/>
                </a:cubicBezTo>
                <a:lnTo>
                  <a:pt x="43398" y="154239"/>
                </a:lnTo>
                <a:cubicBezTo>
                  <a:pt x="48545" y="159386"/>
                  <a:pt x="56903" y="159386"/>
                  <a:pt x="62050" y="154239"/>
                </a:cubicBezTo>
                <a:cubicBezTo>
                  <a:pt x="67197" y="149092"/>
                  <a:pt x="67197" y="140734"/>
                  <a:pt x="62050" y="135587"/>
                </a:cubicBezTo>
                <a:lnTo>
                  <a:pt x="31828" y="105406"/>
                </a:lnTo>
                <a:lnTo>
                  <a:pt x="62009" y="75184"/>
                </a:lnTo>
                <a:cubicBezTo>
                  <a:pt x="67155" y="70038"/>
                  <a:pt x="67155" y="61679"/>
                  <a:pt x="62009" y="56532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61" name="Text 59"/>
          <p:cNvSpPr/>
          <p:nvPr/>
        </p:nvSpPr>
        <p:spPr>
          <a:xfrm>
            <a:off x="6624953" y="1300012"/>
            <a:ext cx="5182478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数据样例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64365" y="1689429"/>
            <a:ext cx="5337660" cy="425724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72700" y="1797764"/>
            <a:ext cx="5182478" cy="18006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7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"neutral": "我今天加班，可能晚点回去。",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"boss": "今天项目这边可能需要多处理一会儿，我会晚点结束，进度我会及时同步给您。",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"girlfriend": "宝贝，我今天可能要加会儿班，晚点回去，忙完马上找你。",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"wife": "老婆，我今天加班，可能回去晚一点，你先吃饭，别等我。",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"father": "爸，我今天工作有点忙，可能晚点回去，您不用担心。",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"mother": "妈，我今天加班，可能晚点回去，你早点休息，别等我。"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7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61437" y="6055010"/>
            <a:ext cx="5340588" cy="667573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65" name="Shape 63"/>
          <p:cNvSpPr/>
          <p:nvPr/>
        </p:nvSpPr>
        <p:spPr>
          <a:xfrm>
            <a:off x="6484411" y="6207263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70271" y="140542"/>
                </a:moveTo>
                <a:cubicBezTo>
                  <a:pt x="109054" y="140542"/>
                  <a:pt x="140542" y="109054"/>
                  <a:pt x="140542" y="70271"/>
                </a:cubicBezTo>
                <a:cubicBezTo>
                  <a:pt x="140542" y="31487"/>
                  <a:pt x="109054" y="0"/>
                  <a:pt x="70271" y="0"/>
                </a:cubicBezTo>
                <a:cubicBezTo>
                  <a:pt x="31487" y="0"/>
                  <a:pt x="0" y="31487"/>
                  <a:pt x="0" y="70271"/>
                </a:cubicBezTo>
                <a:cubicBezTo>
                  <a:pt x="0" y="109054"/>
                  <a:pt x="31487" y="140542"/>
                  <a:pt x="70271" y="140542"/>
                </a:cubicBezTo>
                <a:close/>
                <a:moveTo>
                  <a:pt x="61487" y="43919"/>
                </a:moveTo>
                <a:cubicBezTo>
                  <a:pt x="61487" y="39071"/>
                  <a:pt x="65423" y="35135"/>
                  <a:pt x="70271" y="35135"/>
                </a:cubicBezTo>
                <a:cubicBezTo>
                  <a:pt x="75119" y="35135"/>
                  <a:pt x="79055" y="39071"/>
                  <a:pt x="79055" y="43919"/>
                </a:cubicBezTo>
                <a:cubicBezTo>
                  <a:pt x="79055" y="48767"/>
                  <a:pt x="75119" y="52703"/>
                  <a:pt x="70271" y="52703"/>
                </a:cubicBezTo>
                <a:cubicBezTo>
                  <a:pt x="65423" y="52703"/>
                  <a:pt x="61487" y="48767"/>
                  <a:pt x="61487" y="43919"/>
                </a:cubicBezTo>
                <a:close/>
                <a:moveTo>
                  <a:pt x="59291" y="61487"/>
                </a:moveTo>
                <a:lnTo>
                  <a:pt x="72467" y="61487"/>
                </a:lnTo>
                <a:cubicBezTo>
                  <a:pt x="76118" y="61487"/>
                  <a:pt x="79055" y="64424"/>
                  <a:pt x="79055" y="68075"/>
                </a:cubicBezTo>
                <a:lnTo>
                  <a:pt x="79055" y="92231"/>
                </a:lnTo>
                <a:lnTo>
                  <a:pt x="81251" y="92231"/>
                </a:lnTo>
                <a:cubicBezTo>
                  <a:pt x="84902" y="92231"/>
                  <a:pt x="87839" y="95168"/>
                  <a:pt x="87839" y="98818"/>
                </a:cubicBezTo>
                <a:cubicBezTo>
                  <a:pt x="87839" y="102469"/>
                  <a:pt x="84902" y="105406"/>
                  <a:pt x="81251" y="105406"/>
                </a:cubicBezTo>
                <a:lnTo>
                  <a:pt x="59291" y="105406"/>
                </a:lnTo>
                <a:cubicBezTo>
                  <a:pt x="55640" y="105406"/>
                  <a:pt x="52703" y="102469"/>
                  <a:pt x="52703" y="98818"/>
                </a:cubicBezTo>
                <a:cubicBezTo>
                  <a:pt x="52703" y="95168"/>
                  <a:pt x="55640" y="92231"/>
                  <a:pt x="59291" y="92231"/>
                </a:cubicBezTo>
                <a:lnTo>
                  <a:pt x="65879" y="92231"/>
                </a:lnTo>
                <a:lnTo>
                  <a:pt x="65879" y="74663"/>
                </a:lnTo>
                <a:lnTo>
                  <a:pt x="59291" y="74663"/>
                </a:lnTo>
                <a:cubicBezTo>
                  <a:pt x="55640" y="74663"/>
                  <a:pt x="52703" y="71726"/>
                  <a:pt x="52703" y="68075"/>
                </a:cubicBezTo>
                <a:cubicBezTo>
                  <a:pt x="52703" y="64424"/>
                  <a:pt x="55640" y="61487"/>
                  <a:pt x="59291" y="6148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6" name="Text 64"/>
          <p:cNvSpPr/>
          <p:nvPr/>
        </p:nvSpPr>
        <p:spPr>
          <a:xfrm>
            <a:off x="6691123" y="6160416"/>
            <a:ext cx="4975767" cy="456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关键说明：</a:t>
            </a:r>
            <a:r>
              <a:rPr lang="en-US" sz="110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数据不是直接使用现成数据集，而是从公开中文对话语料中抽取中性内容，再构造多角色平行风格数据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35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17500" y="317500"/>
            <a:ext cx="317500" cy="3175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277813" y="317500"/>
            <a:ext cx="396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317500"/>
            <a:ext cx="18573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小组分工安排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0250" y="698500"/>
            <a:ext cx="11215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五人协作，各司其职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375" y="1047750"/>
            <a:ext cx="6826250" cy="6151563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333375" y="1047750"/>
            <a:ext cx="31750" cy="6151563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476250" y="1206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714375" y="1174750"/>
            <a:ext cx="641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成员职责分工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8896" y="1526646"/>
            <a:ext cx="6545792" cy="105304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792" y="1656294"/>
            <a:ext cx="317500" cy="3175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14" name="Text 12"/>
          <p:cNvSpPr/>
          <p:nvPr/>
        </p:nvSpPr>
        <p:spPr>
          <a:xfrm>
            <a:off x="545042" y="1656294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9330" y="1624330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成员 </a:t>
            </a:r>
            <a:r>
              <a:rPr lang="zh-CN" alt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王浩楠</a:t>
            </a:r>
            <a:endParaRPr lang="zh-CN" altLang="en-US" sz="1000" b="1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9330" y="1814830"/>
            <a:ext cx="2794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项目</a:t>
            </a: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统筹、初始数据集</a:t>
            </a: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制作、</a:t>
            </a:r>
            <a:r>
              <a:rPr lang="en-US" altLang="zh-CN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Transformer</a:t>
            </a: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实现</a:t>
            </a:r>
            <a:endParaRPr lang="zh-CN" altLang="en-US" sz="1000" dirty="0">
              <a:solidFill>
                <a:srgbClr val="6B7280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6792" y="2069044"/>
            <a:ext cx="641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职责：</a:t>
            </a:r>
            <a:r>
              <a:rPr 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项目统筹、角色规范设计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与数据增强</a:t>
            </a:r>
            <a:r>
              <a:rPr 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、</a:t>
            </a:r>
            <a:r>
              <a:rPr 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  <a:sym typeface="+mn-ea"/>
              </a:rPr>
              <a:t>Transformer 从零实现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  <a:sym typeface="+mn-ea"/>
              </a:rPr>
              <a:t>、论文</a:t>
            </a:r>
            <a:r>
              <a:rPr lang="en-US" altLang="zh-CN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  <a:sym typeface="+mn-ea"/>
              </a:rPr>
              <a:t>Transformer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  <a:sym typeface="+mn-ea"/>
              </a:rPr>
              <a:t>部分撰写与</a:t>
            </a:r>
            <a:r>
              <a:rPr 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整合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8896" y="2648480"/>
            <a:ext cx="6545792" cy="105304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792" y="2778125"/>
            <a:ext cx="317500" cy="3175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21" name="Text 19"/>
          <p:cNvSpPr/>
          <p:nvPr/>
        </p:nvSpPr>
        <p:spPr>
          <a:xfrm>
            <a:off x="545042" y="2778125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9330" y="2746375"/>
            <a:ext cx="79883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成员 </a:t>
            </a:r>
            <a:r>
              <a:rPr lang="zh-CN" alt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张</a:t>
            </a:r>
            <a:r>
              <a:rPr lang="zh-CN" alt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博凇</a:t>
            </a:r>
            <a:endParaRPr lang="zh-CN" altLang="en-US" sz="1000" b="1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9542" y="2936875"/>
            <a:ext cx="650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LoRA微调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792" y="3190875"/>
            <a:ext cx="641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职责：</a:t>
            </a:r>
            <a:r>
              <a:rPr 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LoRA 微调实验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、论文微调部分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撰写</a:t>
            </a:r>
            <a:endParaRPr lang="zh-CN" altLang="en-US" sz="1000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8896" y="3770315"/>
            <a:ext cx="6545792" cy="105304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792" y="3899960"/>
            <a:ext cx="317500" cy="3175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28" name="Text 26"/>
          <p:cNvSpPr/>
          <p:nvPr/>
        </p:nvSpPr>
        <p:spPr>
          <a:xfrm>
            <a:off x="545042" y="3899960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9542" y="3868210"/>
            <a:ext cx="1111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成员 </a:t>
            </a:r>
            <a:r>
              <a:rPr lang="zh-CN" alt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范智杰</a:t>
            </a:r>
            <a:endParaRPr lang="zh-CN" altLang="en-US" sz="1000" b="1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89542" y="4058710"/>
            <a:ext cx="1111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LCCC</a:t>
            </a: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</a:t>
            </a: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抽取</a:t>
            </a:r>
            <a:endParaRPr lang="zh-CN" altLang="en-US" sz="1000" dirty="0">
              <a:solidFill>
                <a:srgbClr val="6B7280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792" y="4312710"/>
            <a:ext cx="641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职责：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从LCCC数据集中抽取出1000条不同情景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的自然中性语句、论文数据集获取部分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撰写</a:t>
            </a:r>
            <a:endParaRPr lang="zh-CN" altLang="en-US" sz="1000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8896" y="4892146"/>
            <a:ext cx="6545792" cy="105304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76792" y="5021794"/>
            <a:ext cx="317500" cy="3175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5" name="Text 33"/>
          <p:cNvSpPr/>
          <p:nvPr/>
        </p:nvSpPr>
        <p:spPr>
          <a:xfrm>
            <a:off x="545042" y="5021794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9330" y="4989830"/>
            <a:ext cx="8451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成员 </a:t>
            </a:r>
            <a:r>
              <a:rPr lang="zh-CN" alt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何顺康</a:t>
            </a:r>
            <a:endParaRPr lang="zh-CN" altLang="en-US" sz="1000" b="1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89330" y="5180330"/>
            <a:ext cx="85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Web</a:t>
            </a: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前端</a:t>
            </a: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开发</a:t>
            </a:r>
            <a:endParaRPr lang="zh-CN" altLang="en-US" sz="1000" dirty="0">
              <a:solidFill>
                <a:srgbClr val="6B7280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76792" y="5434544"/>
            <a:ext cx="641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职责：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前端交互网页制作、论文应用展示部分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撰写</a:t>
            </a:r>
            <a:endParaRPr lang="zh-CN" altLang="en-US" sz="1000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8896" y="6013980"/>
            <a:ext cx="6545792" cy="105304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467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792" y="6143625"/>
            <a:ext cx="317500" cy="3175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2" name="Text 40"/>
          <p:cNvSpPr/>
          <p:nvPr/>
        </p:nvSpPr>
        <p:spPr>
          <a:xfrm>
            <a:off x="545042" y="6143625"/>
            <a:ext cx="381000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89330" y="6111875"/>
            <a:ext cx="7689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成员 </a:t>
            </a:r>
            <a:r>
              <a:rPr lang="zh-CN" alt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陈佳</a:t>
            </a:r>
            <a:r>
              <a:rPr lang="zh-CN" alt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铭</a:t>
            </a:r>
            <a:endParaRPr lang="zh-CN" altLang="en-US" sz="1000" b="1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89330" y="6302375"/>
            <a:ext cx="82613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Web</a:t>
            </a:r>
            <a:r>
              <a:rPr lang="zh-CN" alt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后端</a:t>
            </a:r>
            <a:r>
              <a:rPr lang="en-US" sz="100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开发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6792" y="6556375"/>
            <a:ext cx="641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职责：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数据库设计、后端业务</a:t>
            </a:r>
            <a:r>
              <a:rPr lang="zh-CN" altLang="en-US" sz="1000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实现</a:t>
            </a:r>
            <a:endParaRPr lang="zh-CN" altLang="en-US" sz="1000" dirty="0">
              <a:solidFill>
                <a:srgbClr val="1F2937"/>
              </a:solidFill>
              <a:latin typeface="思源宋体" pitchFamily="34" charset="0"/>
              <a:ea typeface="思源宋体" pitchFamily="34" charset="-122"/>
              <a:cs typeface="思源宋体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283483" y="2725420"/>
            <a:ext cx="4556125" cy="219075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8" name="Shape 46"/>
          <p:cNvSpPr/>
          <p:nvPr/>
        </p:nvSpPr>
        <p:spPr>
          <a:xfrm>
            <a:off x="7458108" y="288417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7648608" y="2852420"/>
            <a:ext cx="4159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数据质检分工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10483" y="3201670"/>
            <a:ext cx="436562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五名成员</a:t>
            </a:r>
            <a:r>
              <a:rPr lang="en-US" sz="10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共同参与</a:t>
            </a: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数据质检，每人主要负责一个角色的约1000条生成样本，并进行</a:t>
            </a:r>
            <a:r>
              <a:rPr lang="en-US" sz="10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交叉抽检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10483" y="3709670"/>
            <a:ext cx="436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成员 </a:t>
            </a:r>
            <a:r>
              <a:rPr lang="zh-CN" alt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王浩楠</a:t>
            </a: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：老板风格质检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10483" y="3931920"/>
            <a:ext cx="436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成员 </a:t>
            </a:r>
            <a:r>
              <a:rPr lang="zh-CN" alt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张博凇</a:t>
            </a: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：女朋友风格质检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10483" y="4154170"/>
            <a:ext cx="436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成员 </a:t>
            </a:r>
            <a:r>
              <a:rPr lang="zh-CN" alt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范智杰</a:t>
            </a: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：妻子风格质检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10483" y="4376420"/>
            <a:ext cx="436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成员 </a:t>
            </a:r>
            <a:r>
              <a:rPr lang="zh-CN" alt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何顺康</a:t>
            </a: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：父亲风格质检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10483" y="4598670"/>
            <a:ext cx="4365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• 成员 </a:t>
            </a:r>
            <a:r>
              <a:rPr lang="zh-CN" alt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陈佳铭</a:t>
            </a:r>
            <a:r>
              <a:rPr lang="en-US" sz="1000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：母亲风格质检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545421" y="5238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FFFFFF"/>
          </a:solidFill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0678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4" name="Shape 2"/>
          <p:cNvSpPr/>
          <p:nvPr/>
        </p:nvSpPr>
        <p:spPr>
          <a:xfrm>
            <a:off x="353391" y="353391"/>
            <a:ext cx="353391" cy="353391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5" name="Text 3"/>
          <p:cNvSpPr/>
          <p:nvPr/>
        </p:nvSpPr>
        <p:spPr>
          <a:xfrm>
            <a:off x="309217" y="353391"/>
            <a:ext cx="441739" cy="353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53391"/>
            <a:ext cx="4293704" cy="353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5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计划安排：四周完成项目闭环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777461"/>
            <a:ext cx="11105322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按阶段推进，确保各节点交付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1061" y="1166191"/>
            <a:ext cx="7332870" cy="5689600"/>
          </a:xfrm>
          <a:prstGeom prst="roundRect">
            <a:avLst>
              <a:gd name="adj" fmla="val 0"/>
            </a:avLst>
          </a:prstGeom>
          <a:solidFill>
            <a:srgbClr val="F9FAFB"/>
          </a:solidFill>
        </p:spPr>
      </p:sp>
      <p:sp>
        <p:nvSpPr>
          <p:cNvPr id="9" name="Shape 7"/>
          <p:cNvSpPr/>
          <p:nvPr/>
        </p:nvSpPr>
        <p:spPr>
          <a:xfrm>
            <a:off x="371061" y="1166191"/>
            <a:ext cx="35339" cy="568960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10" name="Shape 8"/>
          <p:cNvSpPr/>
          <p:nvPr/>
        </p:nvSpPr>
        <p:spPr>
          <a:xfrm>
            <a:off x="569843" y="1342887"/>
            <a:ext cx="185530" cy="212035"/>
          </a:xfrm>
          <a:custGeom>
            <a:avLst/>
            <a:gdLst/>
            <a:ahLst/>
            <a:cxnLst/>
            <a:rect l="l" t="t" r="r" b="b"/>
            <a:pathLst>
              <a:path w="185530" h="212035">
                <a:moveTo>
                  <a:pt x="53009" y="0"/>
                </a:moveTo>
                <a:cubicBezTo>
                  <a:pt x="60339" y="0"/>
                  <a:pt x="66261" y="5922"/>
                  <a:pt x="66261" y="13252"/>
                </a:cubicBezTo>
                <a:lnTo>
                  <a:pt x="66261" y="26504"/>
                </a:lnTo>
                <a:lnTo>
                  <a:pt x="119270" y="26504"/>
                </a:lnTo>
                <a:lnTo>
                  <a:pt x="119270" y="13252"/>
                </a:lnTo>
                <a:cubicBezTo>
                  <a:pt x="119270" y="5922"/>
                  <a:pt x="125192" y="0"/>
                  <a:pt x="132522" y="0"/>
                </a:cubicBezTo>
                <a:cubicBezTo>
                  <a:pt x="139852" y="0"/>
                  <a:pt x="145774" y="5922"/>
                  <a:pt x="145774" y="13252"/>
                </a:cubicBezTo>
                <a:lnTo>
                  <a:pt x="145774" y="26504"/>
                </a:lnTo>
                <a:lnTo>
                  <a:pt x="159026" y="26504"/>
                </a:lnTo>
                <a:cubicBezTo>
                  <a:pt x="173645" y="26504"/>
                  <a:pt x="185530" y="38390"/>
                  <a:pt x="185530" y="53009"/>
                </a:cubicBezTo>
                <a:lnTo>
                  <a:pt x="185530" y="172278"/>
                </a:lnTo>
                <a:cubicBezTo>
                  <a:pt x="185530" y="186897"/>
                  <a:pt x="173645" y="198783"/>
                  <a:pt x="159026" y="198783"/>
                </a:cubicBezTo>
                <a:lnTo>
                  <a:pt x="26504" y="198783"/>
                </a:lnTo>
                <a:cubicBezTo>
                  <a:pt x="11886" y="198783"/>
                  <a:pt x="0" y="186897"/>
                  <a:pt x="0" y="172278"/>
                </a:cubicBezTo>
                <a:lnTo>
                  <a:pt x="0" y="53009"/>
                </a:lnTo>
                <a:cubicBezTo>
                  <a:pt x="0" y="38390"/>
                  <a:pt x="11886" y="26504"/>
                  <a:pt x="26504" y="26504"/>
                </a:cubicBezTo>
                <a:lnTo>
                  <a:pt x="39757" y="26504"/>
                </a:lnTo>
                <a:lnTo>
                  <a:pt x="39757" y="13252"/>
                </a:lnTo>
                <a:cubicBezTo>
                  <a:pt x="39757" y="5922"/>
                  <a:pt x="45679" y="0"/>
                  <a:pt x="53009" y="0"/>
                </a:cubicBezTo>
                <a:close/>
                <a:moveTo>
                  <a:pt x="26504" y="99391"/>
                </a:moveTo>
                <a:lnTo>
                  <a:pt x="26504" y="112643"/>
                </a:lnTo>
                <a:cubicBezTo>
                  <a:pt x="26504" y="116288"/>
                  <a:pt x="29486" y="119270"/>
                  <a:pt x="33130" y="119270"/>
                </a:cubicBezTo>
                <a:lnTo>
                  <a:pt x="46383" y="119270"/>
                </a:lnTo>
                <a:cubicBezTo>
                  <a:pt x="50027" y="119270"/>
                  <a:pt x="53009" y="116288"/>
                  <a:pt x="53009" y="112643"/>
                </a:cubicBezTo>
                <a:lnTo>
                  <a:pt x="53009" y="99391"/>
                </a:lnTo>
                <a:cubicBezTo>
                  <a:pt x="53009" y="95747"/>
                  <a:pt x="50027" y="92765"/>
                  <a:pt x="46383" y="92765"/>
                </a:cubicBezTo>
                <a:lnTo>
                  <a:pt x="33130" y="92765"/>
                </a:lnTo>
                <a:cubicBezTo>
                  <a:pt x="29486" y="92765"/>
                  <a:pt x="26504" y="95747"/>
                  <a:pt x="26504" y="99391"/>
                </a:cubicBezTo>
                <a:close/>
                <a:moveTo>
                  <a:pt x="79513" y="99391"/>
                </a:moveTo>
                <a:lnTo>
                  <a:pt x="79513" y="112643"/>
                </a:lnTo>
                <a:cubicBezTo>
                  <a:pt x="79513" y="116288"/>
                  <a:pt x="82495" y="119270"/>
                  <a:pt x="86139" y="119270"/>
                </a:cubicBezTo>
                <a:lnTo>
                  <a:pt x="99391" y="119270"/>
                </a:lnTo>
                <a:cubicBezTo>
                  <a:pt x="103036" y="119270"/>
                  <a:pt x="106017" y="116288"/>
                  <a:pt x="106017" y="112643"/>
                </a:cubicBezTo>
                <a:lnTo>
                  <a:pt x="106017" y="99391"/>
                </a:lnTo>
                <a:cubicBezTo>
                  <a:pt x="106017" y="95747"/>
                  <a:pt x="103036" y="92765"/>
                  <a:pt x="99391" y="92765"/>
                </a:cubicBezTo>
                <a:lnTo>
                  <a:pt x="86139" y="92765"/>
                </a:lnTo>
                <a:cubicBezTo>
                  <a:pt x="82495" y="92765"/>
                  <a:pt x="79513" y="95747"/>
                  <a:pt x="79513" y="99391"/>
                </a:cubicBezTo>
                <a:close/>
                <a:moveTo>
                  <a:pt x="139148" y="92765"/>
                </a:moveTo>
                <a:cubicBezTo>
                  <a:pt x="135503" y="92765"/>
                  <a:pt x="132522" y="95747"/>
                  <a:pt x="132522" y="99391"/>
                </a:cubicBezTo>
                <a:lnTo>
                  <a:pt x="132522" y="112643"/>
                </a:lnTo>
                <a:cubicBezTo>
                  <a:pt x="132522" y="116288"/>
                  <a:pt x="135503" y="119270"/>
                  <a:pt x="139148" y="119270"/>
                </a:cubicBezTo>
                <a:lnTo>
                  <a:pt x="152400" y="119270"/>
                </a:lnTo>
                <a:cubicBezTo>
                  <a:pt x="156044" y="119270"/>
                  <a:pt x="159026" y="116288"/>
                  <a:pt x="159026" y="112643"/>
                </a:cubicBezTo>
                <a:lnTo>
                  <a:pt x="159026" y="99391"/>
                </a:lnTo>
                <a:cubicBezTo>
                  <a:pt x="159026" y="95747"/>
                  <a:pt x="156044" y="92765"/>
                  <a:pt x="152400" y="92765"/>
                </a:cubicBezTo>
                <a:lnTo>
                  <a:pt x="139148" y="92765"/>
                </a:lnTo>
                <a:close/>
                <a:moveTo>
                  <a:pt x="26504" y="152400"/>
                </a:moveTo>
                <a:lnTo>
                  <a:pt x="26504" y="165652"/>
                </a:lnTo>
                <a:cubicBezTo>
                  <a:pt x="26504" y="169297"/>
                  <a:pt x="29486" y="172278"/>
                  <a:pt x="33130" y="172278"/>
                </a:cubicBezTo>
                <a:lnTo>
                  <a:pt x="46383" y="172278"/>
                </a:lnTo>
                <a:cubicBezTo>
                  <a:pt x="50027" y="172278"/>
                  <a:pt x="53009" y="169297"/>
                  <a:pt x="53009" y="165652"/>
                </a:cubicBezTo>
                <a:lnTo>
                  <a:pt x="53009" y="152400"/>
                </a:lnTo>
                <a:cubicBezTo>
                  <a:pt x="53009" y="148756"/>
                  <a:pt x="50027" y="145774"/>
                  <a:pt x="46383" y="145774"/>
                </a:cubicBezTo>
                <a:lnTo>
                  <a:pt x="33130" y="145774"/>
                </a:lnTo>
                <a:cubicBezTo>
                  <a:pt x="29486" y="145774"/>
                  <a:pt x="26504" y="148756"/>
                  <a:pt x="26504" y="152400"/>
                </a:cubicBezTo>
                <a:close/>
                <a:moveTo>
                  <a:pt x="86139" y="145774"/>
                </a:moveTo>
                <a:cubicBezTo>
                  <a:pt x="82495" y="145774"/>
                  <a:pt x="79513" y="148756"/>
                  <a:pt x="79513" y="152400"/>
                </a:cubicBezTo>
                <a:lnTo>
                  <a:pt x="79513" y="165652"/>
                </a:lnTo>
                <a:cubicBezTo>
                  <a:pt x="79513" y="169297"/>
                  <a:pt x="82495" y="172278"/>
                  <a:pt x="86139" y="172278"/>
                </a:cubicBezTo>
                <a:lnTo>
                  <a:pt x="99391" y="172278"/>
                </a:lnTo>
                <a:cubicBezTo>
                  <a:pt x="103036" y="172278"/>
                  <a:pt x="106017" y="169297"/>
                  <a:pt x="106017" y="165652"/>
                </a:cubicBezTo>
                <a:lnTo>
                  <a:pt x="106017" y="152400"/>
                </a:lnTo>
                <a:cubicBezTo>
                  <a:pt x="106017" y="148756"/>
                  <a:pt x="103036" y="145774"/>
                  <a:pt x="99391" y="145774"/>
                </a:cubicBezTo>
                <a:lnTo>
                  <a:pt x="86139" y="145774"/>
                </a:lnTo>
                <a:close/>
                <a:moveTo>
                  <a:pt x="132522" y="152400"/>
                </a:moveTo>
                <a:lnTo>
                  <a:pt x="132522" y="165652"/>
                </a:lnTo>
                <a:cubicBezTo>
                  <a:pt x="132522" y="169297"/>
                  <a:pt x="135503" y="172278"/>
                  <a:pt x="139148" y="172278"/>
                </a:cubicBezTo>
                <a:lnTo>
                  <a:pt x="152400" y="172278"/>
                </a:lnTo>
                <a:cubicBezTo>
                  <a:pt x="156044" y="172278"/>
                  <a:pt x="159026" y="169297"/>
                  <a:pt x="159026" y="165652"/>
                </a:cubicBezTo>
                <a:lnTo>
                  <a:pt x="159026" y="152400"/>
                </a:lnTo>
                <a:cubicBezTo>
                  <a:pt x="159026" y="148756"/>
                  <a:pt x="156044" y="145774"/>
                  <a:pt x="152400" y="145774"/>
                </a:cubicBezTo>
                <a:lnTo>
                  <a:pt x="139148" y="145774"/>
                </a:lnTo>
                <a:cubicBezTo>
                  <a:pt x="135503" y="145774"/>
                  <a:pt x="132522" y="148756"/>
                  <a:pt x="132522" y="152400"/>
                </a:cubicBezTo>
                <a:close/>
              </a:path>
            </a:pathLst>
          </a:custGeom>
          <a:solidFill>
            <a:srgbClr val="8B0000"/>
          </a:solidFill>
        </p:spPr>
      </p:sp>
      <p:sp>
        <p:nvSpPr>
          <p:cNvPr id="11" name="Text 9"/>
          <p:cNvSpPr/>
          <p:nvPr/>
        </p:nvSpPr>
        <p:spPr>
          <a:xfrm>
            <a:off x="795130" y="1307548"/>
            <a:ext cx="6873461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四周详细计划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7757" y="1696278"/>
            <a:ext cx="7014817" cy="120153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547757" y="1696278"/>
            <a:ext cx="35339" cy="120153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14" name="Shape 12"/>
          <p:cNvSpPr/>
          <p:nvPr/>
        </p:nvSpPr>
        <p:spPr>
          <a:xfrm>
            <a:off x="671443" y="1819965"/>
            <a:ext cx="424070" cy="42407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15" name="Text 13"/>
          <p:cNvSpPr/>
          <p:nvPr/>
        </p:nvSpPr>
        <p:spPr>
          <a:xfrm>
            <a:off x="631687" y="1819965"/>
            <a:ext cx="503583" cy="424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1530" y="1802296"/>
            <a:ext cx="927652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 1 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1530" y="2049670"/>
            <a:ext cx="918817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数据准备阶段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1443" y="2332383"/>
            <a:ext cx="68557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主要任务：</a:t>
            </a:r>
            <a:r>
              <a:rPr lang="en-US" sz="111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数据抽取、角色规范、LLM生成、人工质检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1443" y="2579757"/>
            <a:ext cx="68557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阶段成果：</a:t>
            </a:r>
            <a:r>
              <a:rPr lang="en-US" sz="1115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初版数据集（5000条样本）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7757" y="2968487"/>
            <a:ext cx="7014817" cy="120153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547757" y="2968487"/>
            <a:ext cx="35339" cy="120153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22" name="Shape 20"/>
          <p:cNvSpPr/>
          <p:nvPr/>
        </p:nvSpPr>
        <p:spPr>
          <a:xfrm>
            <a:off x="671443" y="3092174"/>
            <a:ext cx="424070" cy="42407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23" name="Text 21"/>
          <p:cNvSpPr/>
          <p:nvPr/>
        </p:nvSpPr>
        <p:spPr>
          <a:xfrm>
            <a:off x="631687" y="3092174"/>
            <a:ext cx="503583" cy="424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1530" y="3074504"/>
            <a:ext cx="927652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 2 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1530" y="3321878"/>
            <a:ext cx="918817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模型开发阶段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1443" y="3604591"/>
            <a:ext cx="68557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主要任务：</a:t>
            </a:r>
            <a:r>
              <a:rPr lang="en-US" sz="111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Transformer跑通、LoRA跑通、Web Demo原型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1443" y="3851965"/>
            <a:ext cx="68557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阶段成果：</a:t>
            </a:r>
            <a:r>
              <a:rPr lang="en-US" sz="1115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初版模型与页面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7757" y="4240696"/>
            <a:ext cx="7014817" cy="120153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</p:sp>
      <p:sp>
        <p:nvSpPr>
          <p:cNvPr id="29" name="Shape 27"/>
          <p:cNvSpPr/>
          <p:nvPr/>
        </p:nvSpPr>
        <p:spPr>
          <a:xfrm>
            <a:off x="547757" y="4240696"/>
            <a:ext cx="35339" cy="120153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0" name="Shape 28"/>
          <p:cNvSpPr/>
          <p:nvPr/>
        </p:nvSpPr>
        <p:spPr>
          <a:xfrm>
            <a:off x="671443" y="4364383"/>
            <a:ext cx="424070" cy="42407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1" name="Text 29"/>
          <p:cNvSpPr/>
          <p:nvPr/>
        </p:nvSpPr>
        <p:spPr>
          <a:xfrm>
            <a:off x="631687" y="4364383"/>
            <a:ext cx="503583" cy="424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01530" y="4346713"/>
            <a:ext cx="927652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 3 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01530" y="4594087"/>
            <a:ext cx="918817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实验评估阶段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1443" y="4876800"/>
            <a:ext cx="68557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主要任务：</a:t>
            </a:r>
            <a:r>
              <a:rPr lang="en-US" sz="111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模型调参、生成测试结果、自动/人工评估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1443" y="5124174"/>
            <a:ext cx="68557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阶段成果：</a:t>
            </a:r>
            <a:r>
              <a:rPr lang="en-US" sz="1115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实验结果表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7757" y="5512904"/>
            <a:ext cx="7014817" cy="120153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</p:sp>
      <p:sp>
        <p:nvSpPr>
          <p:cNvPr id="37" name="Shape 35"/>
          <p:cNvSpPr/>
          <p:nvPr/>
        </p:nvSpPr>
        <p:spPr>
          <a:xfrm>
            <a:off x="547757" y="5512904"/>
            <a:ext cx="35339" cy="120153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8" name="Shape 36"/>
          <p:cNvSpPr/>
          <p:nvPr/>
        </p:nvSpPr>
        <p:spPr>
          <a:xfrm>
            <a:off x="671443" y="5636591"/>
            <a:ext cx="424070" cy="424070"/>
          </a:xfrm>
          <a:prstGeom prst="roundRect">
            <a:avLst>
              <a:gd name="adj" fmla="val 0"/>
            </a:avLst>
          </a:prstGeom>
          <a:solidFill>
            <a:srgbClr val="8B0000"/>
          </a:solidFill>
        </p:spPr>
      </p:sp>
      <p:sp>
        <p:nvSpPr>
          <p:cNvPr id="39" name="Text 37"/>
          <p:cNvSpPr/>
          <p:nvPr/>
        </p:nvSpPr>
        <p:spPr>
          <a:xfrm>
            <a:off x="631687" y="5636591"/>
            <a:ext cx="503583" cy="424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W4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01530" y="5618922"/>
            <a:ext cx="927652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 4 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01530" y="5866296"/>
            <a:ext cx="918817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6B728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完善交付阶段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1443" y="6149009"/>
            <a:ext cx="68557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主要任务：</a:t>
            </a:r>
            <a:r>
              <a:rPr lang="en-US" sz="1115" dirty="0">
                <a:solidFill>
                  <a:srgbClr val="1F293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完善Demo、整理图表、撰写论文/报告、准备展示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1443" y="6396383"/>
            <a:ext cx="68557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阶段成果：</a:t>
            </a:r>
            <a:r>
              <a:rPr lang="en-US" sz="1115" dirty="0">
                <a:solidFill>
                  <a:srgbClr val="8B000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最终报告与演示系统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59163" y="1342887"/>
            <a:ext cx="185530" cy="212035"/>
          </a:xfrm>
          <a:custGeom>
            <a:avLst/>
            <a:gdLst/>
            <a:ahLst/>
            <a:cxnLst/>
            <a:rect l="l" t="t" r="r" b="b"/>
            <a:pathLst>
              <a:path w="185530" h="212035">
                <a:moveTo>
                  <a:pt x="13252" y="0"/>
                </a:moveTo>
                <a:cubicBezTo>
                  <a:pt x="20582" y="0"/>
                  <a:pt x="26504" y="5922"/>
                  <a:pt x="26504" y="13252"/>
                </a:cubicBezTo>
                <a:lnTo>
                  <a:pt x="26504" y="19878"/>
                </a:lnTo>
                <a:lnTo>
                  <a:pt x="55079" y="12755"/>
                </a:lnTo>
                <a:cubicBezTo>
                  <a:pt x="70858" y="8821"/>
                  <a:pt x="87506" y="10643"/>
                  <a:pt x="102083" y="17932"/>
                </a:cubicBezTo>
                <a:cubicBezTo>
                  <a:pt x="121257" y="27540"/>
                  <a:pt x="143828" y="27540"/>
                  <a:pt x="163002" y="17932"/>
                </a:cubicBezTo>
                <a:lnTo>
                  <a:pt x="166977" y="15944"/>
                </a:lnTo>
                <a:cubicBezTo>
                  <a:pt x="175508" y="11637"/>
                  <a:pt x="185530" y="17849"/>
                  <a:pt x="185530" y="27374"/>
                </a:cubicBezTo>
                <a:lnTo>
                  <a:pt x="185530" y="143206"/>
                </a:lnTo>
                <a:cubicBezTo>
                  <a:pt x="185530" y="148714"/>
                  <a:pt x="182093" y="153684"/>
                  <a:pt x="176917" y="155630"/>
                </a:cubicBezTo>
                <a:lnTo>
                  <a:pt x="162546" y="161014"/>
                </a:lnTo>
                <a:cubicBezTo>
                  <a:pt x="143413" y="168178"/>
                  <a:pt x="122127" y="167060"/>
                  <a:pt x="103864" y="157949"/>
                </a:cubicBezTo>
                <a:cubicBezTo>
                  <a:pt x="88168" y="150081"/>
                  <a:pt x="70154" y="148134"/>
                  <a:pt x="53133" y="152400"/>
                </a:cubicBezTo>
                <a:lnTo>
                  <a:pt x="26504" y="159026"/>
                </a:lnTo>
                <a:lnTo>
                  <a:pt x="26504" y="198783"/>
                </a:lnTo>
                <a:cubicBezTo>
                  <a:pt x="26504" y="206113"/>
                  <a:pt x="20582" y="212035"/>
                  <a:pt x="13252" y="212035"/>
                </a:cubicBezTo>
                <a:cubicBezTo>
                  <a:pt x="5922" y="212035"/>
                  <a:pt x="0" y="206113"/>
                  <a:pt x="0" y="198783"/>
                </a:cubicBezTo>
                <a:lnTo>
                  <a:pt x="0" y="13252"/>
                </a:lnTo>
                <a:cubicBezTo>
                  <a:pt x="0" y="5922"/>
                  <a:pt x="5922" y="0"/>
                  <a:pt x="13252" y="0"/>
                </a:cubicBezTo>
                <a:close/>
                <a:moveTo>
                  <a:pt x="26504" y="77484"/>
                </a:moveTo>
                <a:lnTo>
                  <a:pt x="53009" y="71727"/>
                </a:lnTo>
                <a:lnTo>
                  <a:pt x="53009" y="98853"/>
                </a:lnTo>
                <a:lnTo>
                  <a:pt x="26504" y="104609"/>
                </a:lnTo>
                <a:lnTo>
                  <a:pt x="26504" y="131735"/>
                </a:lnTo>
                <a:lnTo>
                  <a:pt x="46714" y="126683"/>
                </a:lnTo>
                <a:cubicBezTo>
                  <a:pt x="48826" y="126144"/>
                  <a:pt x="50897" y="125689"/>
                  <a:pt x="53009" y="125316"/>
                </a:cubicBezTo>
                <a:lnTo>
                  <a:pt x="53009" y="98853"/>
                </a:lnTo>
                <a:lnTo>
                  <a:pt x="69118" y="95374"/>
                </a:lnTo>
                <a:cubicBezTo>
                  <a:pt x="72556" y="94629"/>
                  <a:pt x="76034" y="94339"/>
                  <a:pt x="79513" y="94505"/>
                </a:cubicBezTo>
                <a:lnTo>
                  <a:pt x="79513" y="68000"/>
                </a:lnTo>
                <a:cubicBezTo>
                  <a:pt x="85145" y="68166"/>
                  <a:pt x="90777" y="69077"/>
                  <a:pt x="96244" y="70651"/>
                </a:cubicBezTo>
                <a:lnTo>
                  <a:pt x="106017" y="73508"/>
                </a:lnTo>
                <a:lnTo>
                  <a:pt x="106017" y="101131"/>
                </a:lnTo>
                <a:lnTo>
                  <a:pt x="88748" y="96037"/>
                </a:lnTo>
                <a:cubicBezTo>
                  <a:pt x="85725" y="95167"/>
                  <a:pt x="82619" y="94629"/>
                  <a:pt x="79513" y="94463"/>
                </a:cubicBezTo>
                <a:lnTo>
                  <a:pt x="79513" y="124032"/>
                </a:lnTo>
                <a:cubicBezTo>
                  <a:pt x="88541" y="124819"/>
                  <a:pt x="97445" y="126807"/>
                  <a:pt x="106017" y="129996"/>
                </a:cubicBezTo>
                <a:lnTo>
                  <a:pt x="106017" y="101089"/>
                </a:lnTo>
                <a:lnTo>
                  <a:pt x="115418" y="103864"/>
                </a:lnTo>
                <a:cubicBezTo>
                  <a:pt x="121009" y="105520"/>
                  <a:pt x="126724" y="106514"/>
                  <a:pt x="132522" y="106928"/>
                </a:cubicBezTo>
                <a:lnTo>
                  <a:pt x="132522" y="80341"/>
                </a:lnTo>
                <a:cubicBezTo>
                  <a:pt x="129292" y="80010"/>
                  <a:pt x="126061" y="79389"/>
                  <a:pt x="122914" y="78478"/>
                </a:cubicBezTo>
                <a:lnTo>
                  <a:pt x="106017" y="73508"/>
                </a:lnTo>
                <a:lnTo>
                  <a:pt x="106017" y="47832"/>
                </a:lnTo>
                <a:cubicBezTo>
                  <a:pt x="100634" y="46258"/>
                  <a:pt x="95333" y="44188"/>
                  <a:pt x="90198" y="41620"/>
                </a:cubicBezTo>
                <a:cubicBezTo>
                  <a:pt x="86802" y="39922"/>
                  <a:pt x="83199" y="38721"/>
                  <a:pt x="79513" y="37976"/>
                </a:cubicBezTo>
                <a:lnTo>
                  <a:pt x="79513" y="67959"/>
                </a:lnTo>
                <a:cubicBezTo>
                  <a:pt x="74129" y="67793"/>
                  <a:pt x="68746" y="68290"/>
                  <a:pt x="63486" y="69450"/>
                </a:cubicBezTo>
                <a:lnTo>
                  <a:pt x="53009" y="71727"/>
                </a:lnTo>
                <a:lnTo>
                  <a:pt x="53009" y="40585"/>
                </a:lnTo>
                <a:lnTo>
                  <a:pt x="26504" y="47211"/>
                </a:lnTo>
                <a:lnTo>
                  <a:pt x="26504" y="77484"/>
                </a:lnTo>
                <a:close/>
                <a:moveTo>
                  <a:pt x="132522" y="139024"/>
                </a:moveTo>
                <a:cubicBezTo>
                  <a:pt x="139479" y="139645"/>
                  <a:pt x="146561" y="138734"/>
                  <a:pt x="153228" y="136208"/>
                </a:cubicBezTo>
                <a:lnTo>
                  <a:pt x="159026" y="134054"/>
                </a:lnTo>
                <a:lnTo>
                  <a:pt x="159026" y="104361"/>
                </a:lnTo>
                <a:lnTo>
                  <a:pt x="155754" y="105106"/>
                </a:lnTo>
                <a:cubicBezTo>
                  <a:pt x="148134" y="106887"/>
                  <a:pt x="140307" y="107467"/>
                  <a:pt x="132522" y="106970"/>
                </a:cubicBezTo>
                <a:lnTo>
                  <a:pt x="132522" y="139024"/>
                </a:lnTo>
                <a:close/>
                <a:moveTo>
                  <a:pt x="159026" y="77152"/>
                </a:moveTo>
                <a:lnTo>
                  <a:pt x="159026" y="47832"/>
                </a:lnTo>
                <a:cubicBezTo>
                  <a:pt x="150371" y="50358"/>
                  <a:pt x="141467" y="51601"/>
                  <a:pt x="132522" y="51601"/>
                </a:cubicBezTo>
                <a:lnTo>
                  <a:pt x="132522" y="80341"/>
                </a:lnTo>
                <a:cubicBezTo>
                  <a:pt x="138278" y="80921"/>
                  <a:pt x="144117" y="80548"/>
                  <a:pt x="149791" y="79265"/>
                </a:cubicBezTo>
                <a:lnTo>
                  <a:pt x="159026" y="7711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8284450" y="1307548"/>
            <a:ext cx="3516243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19406" y="1696278"/>
            <a:ext cx="3675270" cy="56542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8090084" y="1766957"/>
            <a:ext cx="36045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第1周末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90084" y="1978991"/>
            <a:ext cx="36045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完成5000条样本数据集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19406" y="2332383"/>
            <a:ext cx="3675270" cy="56542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8090084" y="2403061"/>
            <a:ext cx="36045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第2周末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90084" y="2615096"/>
            <a:ext cx="36045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两个模型均能完成训练和推理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19406" y="2968487"/>
            <a:ext cx="3675270" cy="56542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8090084" y="3039165"/>
            <a:ext cx="36045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第3周末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090084" y="3251200"/>
            <a:ext cx="36045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完成实验评估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19406" y="3604591"/>
            <a:ext cx="3675270" cy="56542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8090084" y="3675270"/>
            <a:ext cx="36045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第4周末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090084" y="3887304"/>
            <a:ext cx="3604591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完成报告、PPT和Demo展示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1856</Words>
  <Application>WPS 演示</Application>
  <PresentationFormat>On-screen Show (16:9)</PresentationFormat>
  <Paragraphs>316</Paragraphs>
  <Slides>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思源宋体</vt:lpstr>
      <vt:lpstr>思源宋体</vt:lpstr>
      <vt:lpstr>思源宋体</vt:lpstr>
      <vt:lpstr>Noto Sans SC</vt:lpstr>
      <vt:lpstr>Noto Sans SC</vt:lpstr>
      <vt:lpstr>Sorts Mill Goudy</vt:lpstr>
      <vt:lpstr>Segoe Print</vt:lpstr>
      <vt:lpstr>Sorts Mill Goudy</vt:lpstr>
      <vt:lpstr>Sorts Mill Goudy</vt:lpstr>
      <vt:lpstr>微软雅黑</vt:lpstr>
      <vt:lpstr>微软雅黑</vt:lpstr>
      <vt:lpstr>MiSans</vt:lpstr>
      <vt:lpstr>MiSans</vt:lpstr>
      <vt:lpstr>MiSans</vt:lpstr>
      <vt:lpstr>Calibri</vt:lpstr>
      <vt:lpstr>Arial Unicode MS</vt:lpstr>
      <vt:lpstr>等线</vt:lpstr>
      <vt:lpstr>MiSans Semibold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小样本条件下中文多角色文本风格迁移研究</dc:title>
  <dc:creator>Kimi</dc:creator>
  <dc:subject>小样本条件下中文多角色文本风格迁移研究</dc:subject>
  <cp:lastModifiedBy>懒羊羊爱睡觉</cp:lastModifiedBy>
  <cp:revision>17</cp:revision>
  <dcterms:created xsi:type="dcterms:W3CDTF">2026-05-15T15:24:00Z</dcterms:created>
  <dcterms:modified xsi:type="dcterms:W3CDTF">2026-05-17T11:02:30Z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小样本条件下中文多角色文本风格迁移研究","ContentProducer":"001191110108MACG2KBH8F10000","ProduceID":"19e2c262-c0a2-8f24-8000-0000ec1d8a58","ReservedCode1":"","ContentPropagator":"001191110108MACG2KBH8F20000","PropagateID":"19e2c262-c0a2-8f24-8000-0000ec1d8a58","ReservedCode2":""}</vt:lpwstr>
  </property>
  <property fmtid="{D5CDD505-2E9C-101B-9397-08002B2CF9AE}" pid="3" name="KSOProductBuildVer">
    <vt:lpwstr>2052-12.1.0.25865</vt:lpwstr>
  </property>
  <property fmtid="{D5CDD505-2E9C-101B-9397-08002B2CF9AE}" pid="4" name="ICV">
    <vt:lpwstr>77701DEB16064F29A76DB30F175B872D_12</vt:lpwstr>
  </property>
</Properties>
</file>